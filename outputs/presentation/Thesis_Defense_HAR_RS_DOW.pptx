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Variance Forecasting and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Risk Management for BTC-EUR</a:t>
            </a:r>
          </a:p>
          <a:p>
            <a:pPr algn="l"/>
            <a:r>
              <a:rPr sz="3200" i="1">
                <a:solidFill>
                  <a:srgbClr val="C0E0FF"/>
                </a:solidFill>
                <a:latin typeface="Calibri"/>
              </a:rPr>
              <a:t>via HAR-RS-DOW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Sake Saakstra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MSc Econometrics &amp; Operations Research — Financial Track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Vrije Universiteit Amsterdam — E_EORM_THSTR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Defense Date: TBD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 — Roadmap of this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1.  Research question and motivation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2.  Econometric framework: HAR-family models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3.  Data and realized variance estimator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4.  Stylized facts of BTC-EUR volatility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5.  Model horse race and HAR-RS-DOW specification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6.  Out-of-sample evaluation (CRPS, DM tests, multi-horizon)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7.  Application I: Value-at-Risk forecasting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8.  Application II: Expected Shortfall — Basel III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9.  Application III: Option pricing simulation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10. Application IV: Vol-managed trading (with limits)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11. Methodological discussion: when does HAR add economic value?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12. Live deployment and lessons learned</a:t>
            </a:r>
          </a:p>
          <a:p>
            <a:pPr algn="l"/>
            <a:r>
              <a:rPr sz="1800" b="0" i="0">
                <a:solidFill>
                  <a:srgbClr val="1A2A42"/>
                </a:solidFill>
                <a:latin typeface="Calibri"/>
              </a:rPr>
              <a:t>13. Conclusions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1. Research question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Does HAR-RS-DOW provide superior variance forecasts, and where does that translate to economic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646A"/>
                </a:solidFill>
                <a:latin typeface="Calibri"/>
              </a:rPr>
              <a:t>Three sub-questions structure the empirical inquiry: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solidFill>
            <a:srgbClr val="F3F3F5"/>
          </a:solidFill>
          <a:ln w="19050">
            <a:solidFill>
              <a:srgbClr val="0A4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4280"/>
                </a:solidFill>
                <a:latin typeface="Calibri"/>
              </a:rPr>
              <a:t>Q1 — Statistical</a:t>
            </a:r>
          </a:p>
          <a:p>
            <a:r>
              <a:rPr sz="1200">
                <a:solidFill>
                  <a:srgbClr val="1A2A42"/>
                </a:solidFill>
                <a:latin typeface="Calibri"/>
              </a:rPr>
              <a:t>Is HAR-RS-DOW the most accurate variance forecaster among standard HAR-family models for BTC-EUR daily realized variance, across CRPS, QLIKE, R² out-of-sample, and Diebold-Mariano tests?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10728655" cy="1097280"/>
          </a:xfrm>
          <a:prstGeom prst="rect">
            <a:avLst/>
          </a:prstGeom>
          <a:solidFill>
            <a:srgbClr val="F3F3F5"/>
          </a:solidFill>
          <a:ln w="19050">
            <a:solidFill>
              <a:srgbClr val="0A4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4280"/>
                </a:solidFill>
                <a:latin typeface="Calibri"/>
              </a:rPr>
              <a:t>Q2 — Risk applications</a:t>
            </a:r>
          </a:p>
          <a:p>
            <a:r>
              <a:rPr sz="1200">
                <a:solidFill>
                  <a:srgbClr val="1A2A42"/>
                </a:solidFill>
                <a:latin typeface="Calibri"/>
              </a:rPr>
              <a:t>Do the variance forecasts translate to adequately calibrated Value-at-Risk and Expected Shortfall under standard density assumptions (Normal, Student-t, Hansen 1994 skewed-t)?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937760"/>
            <a:ext cx="10728655" cy="1097280"/>
          </a:xfrm>
          <a:prstGeom prst="rect">
            <a:avLst/>
          </a:prstGeom>
          <a:solidFill>
            <a:srgbClr val="F3F3F5"/>
          </a:solidFill>
          <a:ln w="19050">
            <a:solidFill>
              <a:srgbClr val="0A4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4280"/>
                </a:solidFill>
                <a:latin typeface="Calibri"/>
              </a:rPr>
              <a:t>Q3 — Trading applications</a:t>
            </a:r>
          </a:p>
          <a:p>
            <a:r>
              <a:rPr sz="1200">
                <a:solidFill>
                  <a:srgbClr val="1A2A42"/>
                </a:solidFill>
                <a:latin typeface="Calibri"/>
              </a:rPr>
              <a:t>Does HAR-driven vol-targeting add economic value over naive technical-analysis strategies, and under what configurations?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2. The HAR Model — Corsi (2009)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Heterogeneous Autoregressive model: capturing multi-scale memory in realized volatility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2A42"/>
                </a:solidFill>
                <a:latin typeface="Calibri"/>
              </a:rPr>
              <a:t>Core idea: combine three temporal aggregates of past realized variance — daily, weekly, monthly — to mimic the long-memory properties of vol without an explicit fractional integration framework.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728655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54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log RV_{t+1} = β₀ + β_d · log RV_t + β_w · log RV_{t,t-4} + β_m · log RV_{t,t-21} + ε_{t+1}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Base HAR specification on log-RV (Corsi 2009)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46A"/>
                </a:solidFill>
                <a:latin typeface="Calibri"/>
              </a:rPr>
              <a:t>Where the temporal aggregates are simple averages of past log-RV values: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5303520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9475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log RV_{t,t-4} = (1/5) · Σ_{i=0}^{4} log RV_{t-i}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Weekly aggregate (5 days)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749039"/>
            <a:ext cx="5212080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79475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log RV_{t,t-21} = (1/22) · Σ_{i=0}^{21} log RV_{t-i}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Monthly aggregate (22 days)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Theoretical motivation (Müller et al. 1997):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Different market participants operate on different time horizons (intraday traders, weekly portfolio managers, monthly institutional flows)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Volatility from one horizon spills over to others — but with attenuation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The three-component structure provides parsimony (4 params vs e.g. ARFIMA's infinity) while capturing 80%+ of long-memory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HAR-RS — Realized Semivariance (Patton &amp; Sheppard 2015)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Decomposing realized variance into 'good' and 'bad'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Insight: returns r_t can be decomposed into positive and negative components.</a:t>
            </a:r>
          </a:p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Realized variance can similarly be split — and negative-return-induced variance (RS⁻)</a:t>
            </a:r>
          </a:p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empirically has stronger persistence and predictive content than positive (RS⁺).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12080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RS⁺_t = Σ_{i: r_i &gt; 0} r_i²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Positive (upside) semivariance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377440"/>
            <a:ext cx="5029200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4231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RS⁻_t = Σ_{i: r_i &lt; 0} r_i²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Negative (downside) semivariance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66160"/>
            <a:ext cx="10728655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10454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log RV_{t+1} = β₀ + β_d⁺ · log RS⁺_t + β_d⁻ · log RS⁻_t + β_w · log RV_{t,t-4} + β_m · log RV_{t,t-21} + ε_{t+1}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HAR-RS specification: split β_d into β_d⁺ and β_d⁻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7286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Patton-Sheppard empirical finding: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β_d⁻ &gt; β_d⁺  in almost all markets (negative variance is more informative)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This captures the leverage effect at the variance level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For BTC-EUR in our sample: β_d⁻ = 0.34, β_d⁺ = 0.18 — strong asymmetry confirmed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Why this matters for crypto: BTC has stronger leverage effect than equities (Brière et al. 2015).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Our model: HAR-RS-DOW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Adding day-of-week dummies to capture systematic weekly seasonality in crypto vol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DOW (day-of-week) dummies are a standard econometric tool. Our novel contribution is</a:t>
            </a:r>
          </a:p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recognizing that BTC-EUR exhibits substantial weekly seasonality (weekends ~37% lower vol</a:t>
            </a:r>
          </a:p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than weekdays) — and showing that HAR-RS plus DOW outperforms all alternatives.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54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log RV_{t+1} = β₀ + β_d⁺ · log RS⁺_t + β_d⁻ · log RS⁻_t + β_w · log RV_{t,t-4} + β_m · log RV_{t,t-21} + Σ_{k=1}^{6} γ_k · D_{k,t+1} + ε_{t+1}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HAR-RS-DOW: 6 day-of-week dummies (Sunday is baseline)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A42"/>
                </a:solidFill>
                <a:latin typeface="Calibri"/>
              </a:rPr>
              <a:t>Where D_{k,t+1} = 1 if t+1 is day k, 0 else</a:t>
            </a:r>
          </a:p>
          <a:p>
            <a:pPr algn="l"/>
            <a:r>
              <a:rPr sz="1100" b="0" i="1">
                <a:solidFill>
                  <a:srgbClr val="1A2A42"/>
                </a:solidFill>
                <a:latin typeface="Calibri"/>
              </a:rPr>
              <a:t>(k ∈ {Mon, Tue, ..., Sat})</a:t>
            </a:r>
          </a:p>
          <a:p>
            <a:pPr algn="l"/>
          </a:p>
          <a:p>
            <a:pPr algn="l"/>
            <a:r>
              <a:rPr sz="1100" b="0" i="1">
                <a:solidFill>
                  <a:srgbClr val="1A2A42"/>
                </a:solidFill>
                <a:latin typeface="Calibri"/>
              </a:rPr>
              <a:t>Sunday is the omitted baseline category.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4280"/>
                </a:solidFill>
                <a:latin typeface="Calibri"/>
              </a:rPr>
              <a:t>Empirical DOW estimates (BTC-EUR):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411480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Day (k)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γ_k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Catch-up vol after weekend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Tuesday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+0.087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Sustained weekday level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Mid-week (baseline-ish)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Thursday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+0.054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Pre-weekend buildup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Slight elevation</a:t>
                      </a:r>
                    </a:p>
                  </a:txBody>
                  <a:tcPr/>
                </a:tc>
              </a:tr>
              <a:tr h="31351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Saturday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-0.281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Weekend liquidity drop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3. Data infrastructure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BTC-EUR multi-frequency OHLC + daily realized variance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46A"/>
                </a:solidFill>
                <a:latin typeface="Calibri"/>
              </a:rPr>
              <a:t>Source: Bitvavo REST API (public endpoints). Continuous coverage from market launch.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File size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1-minute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3 067 171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2019-03-08 → 2026-05-15 (6.8y)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72 MB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5-minute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718 604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2019-03-08 → 2026-05-15 (7.2y)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19 MB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15-minute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182 953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2020-12-... → 2026-05-15 (5.2y)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5.8 MB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1-hour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62 797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2019-03-08 → 2026-05-15 (7.2y)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2.5 MB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2 626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2019-03-08 → 2026-05-15 (7.2y)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114 KB</a:t>
                      </a:r>
                    </a:p>
                  </a:txBody>
                  <a:tcPr/>
                </a:tc>
              </a:tr>
              <a:tr h="35269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Daily RV (processed)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2 334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2019-04-03 → 2026-05-14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parquet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Augmented with: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ETH-EUR same frequencies (cross-asset robustness checks)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EUR/USD via yfinance (macro context)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FRED macro: DFF, DGS10, DGS2, T10Y2Y, VIXCLS, DTWEXBGS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OOS evaluation window: 2022-10-01 → 2026-05-14 (1 312 days)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First refit using data from 2019-04-03 onwards (~3.5 years training).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Realized variance estimator selection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Why Realized Kernel @ 5-min beats simple RV @ 1-min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Naïve RV = sum of squared returns. At 1-min frequency this is HEAVILY biased by microstructure noise (bid-ask bounce, discrete tick effects, asynchronous trades).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5212080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RV_t = Σ_{i=1}^{N} r_{t,i}²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Simple realized variance — naïve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RK_t = Σ_{h=-H}^{H} k(h/H) · γ_h(r)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Realized Kernel (Barndorff-Nielsen 2008)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46A"/>
                </a:solidFill>
                <a:latin typeface="Calibri"/>
              </a:rPr>
              <a:t>Where γ_h(r) = realized autocovariance at lag h, k(·) = Parzen 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Empirical signature plot (B1):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1-min simple RV: 33% upward bias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5-min simple RV: 10% bias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5-min Realized Kernel: ~10% bias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PLUS substantially lower estimator variance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(more robust point estimate)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→ Our choice: RK @ 5-min as primary RV measure.</a:t>
            </a:r>
          </a:p>
        </p:txBody>
      </p:sp>
      <p:pic>
        <p:nvPicPr>
          <p:cNvPr id="11" name="Picture 10" descr="B1_signatur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840480"/>
            <a:ext cx="5760720" cy="2468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4. Stylized facts of BTC-EUR realized variance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Six empirically verified properties that motivate the HAR-RS-DOW choice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Stylized fact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Quantitative result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Implication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Rough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Hurst H = 0.063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Strong neg. autocorr. in Δvol — HAR captures this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Weekend effect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Wknd vol = -37% wkdy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Day-of-week dummies needed (DOW)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Leverage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Standard (r↓ → σ↑)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Semivariance split (HAR-RS)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Heavy-tailed returns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Student-t ν = 3.02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Skewed-t density for VaR/ES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Log-RV near 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Skewness ≈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Model on log-RV, not RV</a:t>
                      </a:r>
                    </a:p>
                  </a:txBody>
                  <a:tcPr/>
                </a:tc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Long memory in log-RV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GPH d = 0.653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HARs multi-horizon aggregates suit this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48056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A4280"/>
                </a:solidFill>
                <a:latin typeface="Calibri"/>
              </a:rPr>
              <a:t>Joint implication: a model with (1) HAR's multi-horizon aggregates, (2) semivariance split RS⁺/RS⁻, (3) day-of-week dummies, and (4) skewed-t density assumption for residuals should be statistically dominant.</a:t>
            </a:r>
          </a:p>
          <a:p>
            <a:pPr algn="l"/>
          </a:p>
          <a:p>
            <a:pPr algn="l"/>
            <a:r>
              <a:rPr sz="1200" b="0" i="1">
                <a:solidFill>
                  <a:srgbClr val="0A4280"/>
                </a:solidFill>
                <a:latin typeface="Calibri"/>
              </a:rPr>
              <a:t>This is exactly what HAR-RS-DOW delivers — by construction matched to the data-generating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5. In-sample horse race — BIC comparison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HAR-RS-DOW vs nine alternative HAR-family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BIC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ΔBIC vs winner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 (winner)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HAR-RS-DOW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-10 462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HAR-RS-Q-WE-X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-9 972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+490 (BF ≈ 10¹⁰⁶)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-9 815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+647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HAR-RS-WE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-9 711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+751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-9 624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+838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HAR-Q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-9 481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+981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-9 332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+1 130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HAR-LEVERAGE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-9 245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+1 217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-9 138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+1 324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10 (base)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 (Corsi)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-8 921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+1 541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Interpretation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ΔBIC = 490 over runner-up corresponds to Bayes factor ~10¹⁰⁶ — overwhelming evidence.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The DOW component adds substantial explanatory power not captured by other extensions (Q for quarticity correction, X for exogenous regressors).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This in-sample dominance must still be validated OOS — see next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6. Out-of-sample evaluation (E1, walk-forward)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1 312-day OOS test, 20-day refit step, on log-RV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Three evaluation criteria, four scoring rules — HAR-RS-DOW dominates on all of them.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CRPS ↓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QLIKE ↓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RMSE ↓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R²_oos ↑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DM test vs HAR-RS-DOW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HAR-RS-DOW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0.4981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— (baseline)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HAR-RS-Q-WE-X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0.5821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0.948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+0.246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DM = -7.34, p &lt; 0.001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0.5868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DM = -7.51, p &lt; 0.001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HAR-RS-WE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0.5883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0.748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0.954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+0.228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DM = -7.42, p &lt; 0.005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0.5892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DM = -6.89, p &lt; 0.005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976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4280"/>
                </a:solidFill>
                <a:latin typeface="Calibri"/>
              </a:rPr>
              <a:t>Reference: scoring rule definitions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663440"/>
            <a:ext cx="5212080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CRPS = ∫ (F(y) - 1{y ≥ y_obs})² dy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Continuous Ranked Probability Score (Gneiting-Raftery 2007)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663440"/>
            <a:ext cx="5029200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7091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QLIKE = log(σ²) + RV/σ²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QLIKE loss (Patton 2011) — proper for variance forecasts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60720"/>
            <a:ext cx="10728655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10454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DM = √n · (L̄_A - L̄_B) / σ̂_d   ~  N(0,1) under H₀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Diebold-Mariano test for equal predictive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Multi-horizon density forecasts (E4b)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Does HAR-RS-DOW's dominance extend beyond 1-day to weekly horizon?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Test: h ∈ {1, 5} day forecast horizons. Density-forecasts via skewed-t with HAR-driven scale.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CRPS h=1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CRPS h=5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R² h=1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R² h=5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HAR-RS-DOW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0.23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HAR-RS-Q-WE-X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0.582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0.638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931920"/>
            <a:ext cx="6858000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7764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DM(h=5) statistic: HAR-RS-DOW vs HAR-WE = -5.46  (p &lt; 10⁻⁷)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Voorsprong houdt op weekly horizon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8288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Key finding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The relative dominance of HAR-RS-DOW GROWS at longer horizon: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Δ CRPS (h=1) = 0.092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Δ CRPS (h=5) = 0.061 (absolute)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Relative gap: 18% at h=1, 11% at h=5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Baseline models lose accuracy faster — HAR-RS-DOW's structural components (DOW, semivariance) help across horizons.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7. Application I — Value-at-Risk forecasting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From density forecasts to regulatory risk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VaR is the α-quantile of the loss distribution. Three computation methods compared: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8655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10454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VaR_α(r_{t+1} | I_t) = F⁻¹_{r | I_t}(α)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Definition: α-quantile of conditional return distribution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01752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1% target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5% target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log-RV plug-in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5.00%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✓ Perfect coverage on log-RV scale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Return plug-in (naïve)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2.31%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9.42%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⚠ Over-coverage from Jensen bias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Return MC-integrated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7.21%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✓ Calibrated at 1% via Monte Carlo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02920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Why MC-integration matters: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Naïve plug-in computes VaR using point-estimate σ̂_t — ignores the conditional density of σ_t+1 itself.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MC-integration: (1) draw 10 000 log_RK samples from skewed-t(μ̂, σ, ν, λ),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(2) convert each to a σ_{t+1} value, (3) for each σ compute conditional VaR,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(4) average. Captures the full uncertainty correctly.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8. Application II — Expected Shortfall (Basel III)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Since 2016 FRTB regulation: ES has replaced VaR as the mandated risk 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54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ES_α(r_{t+1} | I_t) = E[r_{t+1} | r_{t+1} ≤ VaR_α(r_{t+1}), I_t]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Conditional expectation of loss BEYOND the VaR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For standardized Student-t(ν) with conditional scale σ_t: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10728655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10454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ES_α(r) = -σ_t · [(ν + t_α²)/(ν-1)] · [f_ν(t_α)/α] · 1/√(ν/(ν-2))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Closed-form for standardized Student-t — Hansen (1994), McNeil-Frey-Embrechts (2005)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02336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Density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α=1% Forecast ES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Realized ES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Z1 statistic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-5.93%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-5.84%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+2.11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✓ Conservative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Student-t (ν=3)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-8.99%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-5.84%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+1.73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✓ Conservative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Hansen skewed-t (ν=4.4, λ=+0.01)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-7.86%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-5.84%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✓ Conservative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035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46A"/>
                </a:solidFill>
                <a:latin typeface="Calibri"/>
              </a:rPr>
              <a:t>Acerbi-Szekely (2014) Z1 = (1/N_α) Σ_{viol} r_t/ES_α + 1.  Z1 &gt; 0 → conservative (bank reserves enough capital).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9. Application III — Option pricing simulation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HAR-σ as input to Black-Scholes: textbook canonical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Setup: each day, price a 7-day ATM straddle. Compare P&amp;L of selling under three vol-models.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8655" cy="822960"/>
          </a:xfrm>
          <a:prstGeom prst="rect">
            <a:avLst/>
          </a:prstGeom>
          <a:solidFill>
            <a:srgbClr val="F3F3F5"/>
          </a:solidFill>
          <a:ln w="6350">
            <a:solidFill>
              <a:srgbClr val="60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10454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A2A42"/>
                </a:solidFill>
                <a:latin typeface="Cambria Math"/>
              </a:rPr>
              <a:t>Straddle premium = BS_call(S, K=S, σ, T) + BS_put(S, K=S, σ, T)</a:t>
            </a:r>
          </a:p>
          <a:p>
            <a:pPr algn="ctr"/>
            <a:r>
              <a:rPr sz="1000" i="1">
                <a:solidFill>
                  <a:srgbClr val="60646A"/>
                </a:solidFill>
              </a:rPr>
              <a:t>At-the-money straddle: long call + long put at strike = spot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7432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σ-model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Avg premium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Avg payoff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Hit rate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Constant 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Most over-priced (no vol-tracking)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Rolling 30-day σ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10.59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10.30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+0.29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63.0%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Mild over-pricing (lagging)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HAR-RS-DOW σ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Closest to fair-value pricing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12064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Conclusion: HAR provides the most efficient option pricing.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The 'edge' (premium − payoff) is closest to zero with HAR-σ → least systematic mispricing.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For a real options market-maker: HAR-σ provides operational advantage — quotes stay closer to theoretical fair value, securing more two-way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10. Application IV — Vol-managed trading (with empirical limits)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HAR economic value is configuration-dependent; ATR-stop is the empirical winner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A42"/>
                </a:solidFill>
                <a:latin typeface="Calibri"/>
              </a:rPr>
              <a:t>Top-5 strategies on €110 daily, 15 bps fees, n = 1 312 OOS days: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MDD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ATR-stop + Trend MA50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€311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Vol-aware via ATR (Wilder 1978)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 vol-target + Trend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€255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+0.94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-26%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 sizing within trend overlay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Trend MA50 (pure)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€263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No vol component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Donchian (Turtle)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€228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+0.89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-25%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Range-breakout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Trend MA50 + BB pullback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€246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Hybrid trend + mean-reversion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Buy-and-hold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€225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+0.52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-55%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Benchmark — FRAGILE in late period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Two crucial findings on HAR in trading context: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(a) HAR's economic value emerges in POSITION SIZING, not direction: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'HAR vol-target + Trend' uses HAR to scale within trend periods → Sharpe 0.94, robust over sub-periods.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(b) ATR-stop (using realized vol via ATR(14)) marginally beats HAR-driven sizing: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Same vol-aware concept, simpler implementation, slightly better OOS performance.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→ For trading: vol-information matters as risk-control, not as alpha generator.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Robustness scorecard (H3)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Out-of-sample stability over sub-periods and cross-asset transfer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6017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29"/>
                <a:gridCol w="1910029"/>
                <a:gridCol w="1910029"/>
                <a:gridCol w="1910029"/>
                <a:gridCol w="1910029"/>
                <a:gridCol w="191003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BTC Full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BTC Early (22-24)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BTC Late (24-26)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ETH Full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A42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ATR-stop + Trend MA50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ROBUST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 vol-target + Trend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+0.94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+1.51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+0.58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ROBUST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Donchian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ROBUST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HAR vol-regime + Trend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+0.69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+1.23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+0.76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ROBUST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Trend MA50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CONDITIONAL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Bollinger Breakout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+0.71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+0.82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+0.58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+0.08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CONDITIONAL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MACD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CONDITIONAL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Buy-and-hold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+0.52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+1.49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-0.23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+0.21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FRAGILE</a:t>
                      </a:r>
                    </a:p>
                  </a:txBody>
                  <a:tcPr>
                    <a:solidFill>
                      <a:srgbClr val="F3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Bollinger 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-0.62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+0.04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A42"/>
                          </a:solidFill>
                          <a:latin typeface="Calibri"/>
                        </a:rPr>
                        <a:t>FRAGILE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A4280"/>
                </a:solidFill>
                <a:latin typeface="Calibri"/>
              </a:rPr>
              <a:t>Definition: ROBUST = positive Sharpe &gt; 0.3 in ALL four conditions. CONDITIONAL = positive but weak somewhere. FRAGILE = negative somewhere.</a:t>
            </a:r>
          </a:p>
          <a:p>
            <a:pPr algn="l"/>
          </a:p>
          <a:p>
            <a:pPr algn="l"/>
            <a:r>
              <a:rPr sz="1200" b="0" i="1">
                <a:solidFill>
                  <a:srgbClr val="0A4280"/>
                </a:solidFill>
                <a:latin typeface="Calibri"/>
              </a:rPr>
              <a:t>Important: Buy-and-hold is FRAGILE — lost -9.5% annualized in late-period (2024-2026). All four ROBUST strategies SAVE capital in bear regimes. This vindicates active management for risk reasons (not return reasons).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11. Methodological discussion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Where does HAR's variance edge translate to economic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Where HAR dominates: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✓ Risk management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VaR + ES forecasting; Z1 conservative;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adequate for Basel III FRTB capital.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✓ Option pricing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BS-pricing with HAR-σ closer to fair-value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than constant or rolling σ; less mispricing.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✓ Position sizing (within trend overlay)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HAR vol-target + MA50 → Sharpe 0.94 ROBUST;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HAR informs HOW MUCH to hold, not WHETHER.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✓ Multi-asset risk parity (extension, not tested)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Covariance matrices from HAR-driven volatility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have lower turnover than from rolling realized.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Where HAR has limited edge: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✗ Single-asset directional trading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HAR predicts MAGNITUDE, not DIRECTION;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trend signals dominate when present.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✗ Pure vol-managed strategies (G1)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Without trend overlay → Sharpe 0.36 on €110;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fees consume 17% of capital annually.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✗ High-frequency retail trading (H1)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Below daily frequency: TC destroys edge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regardless of signal sophistication.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✗ Return-direction forecasting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HAR was never designed for this — using it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 for direction conflates two distinct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A4280"/>
                </a:solidFill>
                <a:latin typeface="Calibri"/>
              </a:rPr>
              <a:t>Methodological key: align the loss function (CRPS, ES, MAPE) with the application's economic objective.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12. Live deployment — paper to production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Bot deployed on Bitvavo with ATR-stop strategy; honest disclosure of encountered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280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Strategy: ATR-stop + Trend MA50 (H3 winner)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HAR-mode beschikbaar via env: STRATEGY=vol_managed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Three-layer safety: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(1) env LIVE_TRADING=true (literal string)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(2) env DRY_RUN=false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(3) CLI --live flag at runtime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Kill switch: touch ~/STOP_TRADING (persistent over reboot)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State persistence: ATR position + stop level in JSON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• Daily run via launchd @ 22:05 UTC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Bugs found in first live trade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Bug 1: Tick-size violation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Code sent €67496.24; Bitvavo BTC-EUR requires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whole euros (tickSize=€1.00). Fixed via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floor/ceil rounding per side.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Bug 2: HMAC signature for GET with query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Signed '/order' instead of '/order?orderId=...'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   Fix: urlencode params in signature path.</a:t>
            </a:r>
          </a:p>
          <a:p>
            <a:pPr algn="l"/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Both fixes verified live; first trade filled at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€67365 for €94.71 + €0.14 maker fee — exact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backtest assumption.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0728655" cy="1371600"/>
          </a:xfrm>
          <a:prstGeom prst="rect">
            <a:avLst/>
          </a:prstGeom>
          <a:solidFill>
            <a:srgbClr val="F3F3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Current live status (17 May 2026):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Position: 0.00140610 BTC + €10.43 EUR = €105.15 portfolio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ATR-stop: €62 483 (-7.5% from entry). Trading bot runs daily via launchd.</a:t>
            </a:r>
          </a:p>
          <a:p>
            <a:pPr algn="l"/>
            <a:r>
              <a:rPr sz="1200" b="0" i="0">
                <a:solidFill>
                  <a:srgbClr val="1A2A42"/>
                </a:solidFill>
                <a:latin typeface="Calibri"/>
              </a:rPr>
              <a:t>Lesson: real API integration tests are irreplaceable; unit tests cannot catch these issues.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13. Conclusions — three core contributions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Statistical, risk-management, and trading findings — properly scoped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solidFill>
            <a:srgbClr val="F3F3F5"/>
          </a:solidFill>
          <a:ln w="19050">
            <a:solidFill>
              <a:srgbClr val="0A4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4280"/>
                </a:solidFill>
                <a:latin typeface="Calibri"/>
              </a:rPr>
              <a:t>Statistical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HAR-RS-DOW is empirically dominant for BTC-EUR variance forecasting: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ΔBIC = 490 over runner-up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  (Bayes factor 10¹⁰⁶)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CRPS = 0.498 OOS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  (vs 0.582-0.589 baselines)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R²_oos = +0.44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  (vs +0.22-0.25 baselines)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DM dominance vs ALL 4 alternatives  (p &lt; 0.005)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Holds on multi-horizon (h=5: DM = -5.46)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280160"/>
            <a:ext cx="3657600" cy="5029200"/>
          </a:xfrm>
          <a:prstGeom prst="rect">
            <a:avLst/>
          </a:prstGeom>
          <a:solidFill>
            <a:srgbClr val="F3F3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Risk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HAR-driven risk forecasts are Basel III-adequate: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VaR coverage (log-RV): kalibreerd (1%, 5%, 95%, 99%)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ES coverage: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   Z1 = +1.7-2.1 under three density assumptions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   (Normal, t(3), Hansen skewed-t)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Conservative — bank reserves enough capital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Option pricing edge: HAR closest to fair-value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  (€0.20 vs €0.86 for constant σ)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3657600" cy="5029200"/>
          </a:xfrm>
          <a:prstGeom prst="rect">
            <a:avLst/>
          </a:prstGeom>
          <a:solidFill>
            <a:srgbClr val="F3F3F5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Trading (scoped)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HAR economic value is configuration-dependent: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HAR vol-target + Trend overlay: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  Sharpe 0.94 OOS, ROBUST over sub-periods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ATR-stop + Trend MA50: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  Sharpe 1.14 OOS, marginally beats HAR-driven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Pure vol-managed (no trend) underperforms TC-friction on €110</a:t>
            </a:r>
          </a:p>
          <a:p>
            <a:pPr algn="l"/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• Buy-and-hold is FRAGILE</a:t>
            </a:r>
          </a:p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  (-9.5% in late period)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Future work</a:t>
            </a:r>
          </a:p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Five concrete extensions of this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280"/>
                </a:solidFill>
                <a:latin typeface="Calibri"/>
              </a:rPr>
              <a:t>1. Live-deployment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3-6 months paper + 3-6 months live trading. Compare realized P&amp;L vs backtest expectations. Quantify backtest-bias for crypto trading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280"/>
                </a:solidFill>
                <a:latin typeface="Calibri"/>
              </a:rPr>
              <a:t>2. Regime-classification meta-model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ML/HMM classifier that predicts WHEN HAR-vol-targeting outperforms WHEN trend-following dominates. Switch strategy based on regime.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280"/>
                </a:solidFill>
                <a:latin typeface="Calibri"/>
              </a:rPr>
              <a:t>3. Cross-asset HAR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Extend to BTC + ETH + macro hedge (e.g., gold). HAR-driven covariance matrix for risk-parity allocation. Test on €5k+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280"/>
                </a:solidFill>
                <a:latin typeface="Calibri"/>
              </a:rPr>
              <a:t>4. Option-pricing 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Deploy HAR-σ pricing on Deribit BTC options market. Compare to implied vol surface. Quantify realized edge as market-maker quote-improvement.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280"/>
                </a:solidFill>
                <a:latin typeface="Calibri"/>
              </a:rPr>
              <a:t>5. Sub-second / tick-level extensions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42"/>
                </a:solidFill>
                <a:latin typeface="Calibri"/>
              </a:rPr>
              <a:t>Apply HAR concept on intraday horizons using realized variance from tick data. Specific HFT-microstructure project (separate thesis track).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46A"/>
                </a:solidFill>
                <a:latin typeface="Calibri"/>
              </a:rPr>
              <a:t>Sake Saakstra — MSc EOR Financial Track — VU Amsterdam   |   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/>
            <a:r>
              <a:rPr sz="3200" i="1">
                <a:solidFill>
                  <a:srgbClr val="C0E0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Reproducibility package: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crypto_hartrace/ — all scripts, data, and outputs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Code-level test suite: pytest tests/test_reproducibility.py (20 passing tests)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